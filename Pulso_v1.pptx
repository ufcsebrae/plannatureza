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877" autoAdjust="0"/>
  </p:normalViewPr>
  <p:slideViewPr>
    <p:cSldViewPr snapToGrid="0">
      <p:cViewPr varScale="1">
        <p:scale>
          <a:sx n="85" d="100"/>
          <a:sy n="85" d="100"/>
        </p:scale>
        <p:origin x="15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92D30-FC38-4E39-841B-32D9F38BD95E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6539A-1F11-4246-83F7-C29F511A2E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05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Nosso ponto de partida era um cenário caro e lento. O objetivo deste projeto foi eliminar esse custo invisível e criar o Pulso Financeiro, nossa nova plataforma para transformar dados em um ativo estratégico."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6539A-1F11-4246-83F7-C29F511A2E6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536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 Pulso Financeiro é, em essência, um pipeline de dados inteligente. A parte mais complexa não é apenas buscar os dados, mas sim o tratamento no meio do caminho. Ele faz o trabalho pesado que antes era manual, garantindo a qualidade da informação que chega na ponta."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6539A-1F11-4246-83F7-C29F511A2E6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9955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657ED-BD28-A4E6-A01C-ACEC04B63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63680C-19CA-F060-4F4E-49FE4D063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857F54B-09A5-6830-E0FE-222DFE0EB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 primeiro resultado do Pulso Financeiro é este painel. Não é só um relatório, é uma ferramenta de gestão interativa. Com a nova métrica de inércia, podemos, pela primeira vez, visualizar e agir sobre os gargalos operacionais."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1E2ECE-3A2F-8ACC-E597-AFEE2665E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6539A-1F11-4246-83F7-C29F511A2E6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97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C1F0-F33D-0C44-B1F5-D4CEE6D5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FAF4D26-DE6D-7F9B-1CAA-E3BDC1AAB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751325C-81EE-893E-3413-2BE658B06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"Não adiantava ter um ótimo painel se as pessoas não o usassem. Por isso, a etapa final do Pulso Financeiro é a comunicação ativa. Ele entrega um resumo na caixa de entrada e, crucialmente, anexa os dados brutos, dando total autonomia à gestão."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E812E7-3A5C-A3EB-79C8-F2D1EA493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6539A-1F11-4246-83F7-C29F511A2E6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899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F2DC2-A93C-2ACA-4C90-F810EE6AA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9D3FF6-2921-9300-17C4-33F55BE81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C205C62-0A74-F50C-E828-C0007911B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 o mais importante: o Pulso Financeiro v1.0 não é uma "caixa-preta". Ele foi construído para ser um ativo duradouro para a empresa. Está organizado, documentado e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versionado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Fazer ajustes ou adicionar novas métricas no futuro será um processo simples e seguro."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AEFB1B-CCFE-C420-A838-6F476EF90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6539A-1F11-4246-83F7-C29F511A2E6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979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659E5-C419-9F9F-618E-BDFEA27C5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5D8117-61B5-8C09-AB06-E3FC6B5CE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3A5ECD-5E04-A3D6-1FAA-0D5076645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3509-E72F-43A7-A3F8-2B1AC4B3689F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5049DB-65BD-4E6C-BEC3-F96F89D9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B205B8-5E08-3503-21B3-E4D5A7F7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AC11A-6E73-45B6-99B0-6C66136BD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54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27CCC-A15C-003A-7A84-CC838960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384D51-B573-7F58-680B-F3F2A3603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967CCE-DF83-77FD-E5BB-B5B893D2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3509-E72F-43A7-A3F8-2B1AC4B3689F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EBA35E-1A76-C5ED-DDCC-4AB3895BC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3115C4-1EBB-6E21-FB4B-06DEDB09A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AC11A-6E73-45B6-99B0-6C66136BD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966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321DB-97AF-7D01-712C-F2B36D08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D342F7-F81E-390A-7A2F-96C0E86EC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2AD69C-89E1-8443-C6CB-C99FB876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3509-E72F-43A7-A3F8-2B1AC4B3689F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AEA0FD-BD0C-B462-B2E5-486797D2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7B03B3-CDA1-C806-F300-5DEE4E2B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AC11A-6E73-45B6-99B0-6C66136BD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769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B5432-BCDF-B2F6-7EB8-43173760D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EFFB4B-38BA-EA3B-5E75-C0704663F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73E3DF-139C-5D3F-323F-140F24600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B2B7E3-4240-6AFA-B500-ECDA4253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3509-E72F-43A7-A3F8-2B1AC4B3689F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521356-1599-AA7A-CC2D-B54983270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90811B-7B45-B281-2629-8CC51704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AC11A-6E73-45B6-99B0-6C66136BD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59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47CAF-5BAC-BBFF-B7D3-3C737A45F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FD4BD3-B97A-DCF9-3422-4D9595241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8A78F4-E8F3-15BF-0A44-91CAC9AC5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F2E4F5-6C3B-2163-95C6-20E97F096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D51B942-7C38-F1A6-92C2-D8777F90F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07F8490-E3BA-019B-A21F-97D46D89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3509-E72F-43A7-A3F8-2B1AC4B3689F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638749D-0FA1-81D8-3DE2-36845D83E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E0201F8-E0F0-1984-40CA-18E21BC2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AC11A-6E73-45B6-99B0-6C66136BD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6012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3924D-3B0E-C746-4226-0E3D5A1E1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25FA7A-FA6D-1D8B-9797-1EF9C1A7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3509-E72F-43A7-A3F8-2B1AC4B3689F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594FEB-EF9B-B981-757B-20FDC82B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5B05523-A45B-D319-6FAB-79B5687B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AC11A-6E73-45B6-99B0-6C66136BD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659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2ED078-E559-7131-9BCD-AEF11C9C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3509-E72F-43A7-A3F8-2B1AC4B3689F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8342B2-A8E5-AC76-2A5B-5B8AD7FA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CFA680-28A1-C19E-7034-04B87E0B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AC11A-6E73-45B6-99B0-6C66136BD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5863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2FCA3-827B-5BCB-D82D-ED259654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195981-58CA-6BC3-978F-6CE78E733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EB0B92-B7FF-AE77-52E2-F48875081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0A1496-EC13-6A3B-B79A-3B0069FA5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3509-E72F-43A7-A3F8-2B1AC4B3689F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73C084-61A1-EBAD-17C8-96AED5C0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F9C194-A4F0-288F-857D-C4D1C9D8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AC11A-6E73-45B6-99B0-6C66136BD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46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7E375-6BCF-A960-A76A-2F285D9F7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1F540B-DEDC-6A70-8ACD-986E05CC0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DD14270-89AB-3672-5B59-1A35E8FCA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1228CC-280A-50A5-FDA3-E998BD66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3509-E72F-43A7-A3F8-2B1AC4B3689F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DD9FBB-8AAA-A6EB-649D-94ABE42C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E671D1-0035-EEFF-53C9-418D577A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AC11A-6E73-45B6-99B0-6C66136BD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38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721C0-4FB0-5EBF-812E-28E618B7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D8E62E-EE83-F77B-90D4-59C28D177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5E434E-F7DF-1B66-D88A-5EE6674B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3509-E72F-43A7-A3F8-2B1AC4B3689F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B6EA26-B4F8-B900-8641-97E3A8C5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2F8E7C-6AC2-7036-33E0-607BE3C3B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AC11A-6E73-45B6-99B0-6C66136BD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6981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F8799E-9FE9-54C5-92F0-EDE60033C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95CE2D2-7421-E3F7-AAF0-8ACD1524A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E15349-D52D-1381-CB92-3238C624E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53509-E72F-43A7-A3F8-2B1AC4B3689F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745B7C-3E4B-9007-D29D-927A1D4C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398B1A-16DA-C430-1F73-E7A1B0E8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AC11A-6E73-45B6-99B0-6C66136BDC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62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571816C-227B-421F-2E35-51B2F4AF8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0D3500-8339-7089-E212-78AE5066B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4A41E6-F453-144F-04F2-4A2FD0CB74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53509-E72F-43A7-A3F8-2B1AC4B3689F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AEAFB0-DAD4-1094-F80A-862B4B738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C0BB04-DC9D-581D-588A-BD8547A12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AC11A-6E73-45B6-99B0-6C66136BDCF3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0CA35B5-EBC8-122B-2510-F92FBA3E32F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3604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Classificação: RESTRITA</a:t>
            </a:r>
          </a:p>
        </p:txBody>
      </p:sp>
    </p:spTree>
    <p:extLst>
      <p:ext uri="{BB962C8B-B14F-4D97-AF65-F5344CB8AC3E}">
        <p14:creationId xmlns:p14="http://schemas.microsoft.com/office/powerpoint/2010/main" val="561158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cesargl@sebraesp.com.b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4E6580A-FE1F-20B8-8E9F-1299CA7AD49A}"/>
              </a:ext>
            </a:extLst>
          </p:cNvPr>
          <p:cNvSpPr txBox="1"/>
          <p:nvPr/>
        </p:nvSpPr>
        <p:spPr>
          <a:xfrm>
            <a:off x="2630311" y="3244334"/>
            <a:ext cx="6931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u="sng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pulso financeiro - v1.0</a:t>
            </a:r>
          </a:p>
        </p:txBody>
      </p:sp>
    </p:spTree>
    <p:extLst>
      <p:ext uri="{BB962C8B-B14F-4D97-AF65-F5344CB8AC3E}">
        <p14:creationId xmlns:p14="http://schemas.microsoft.com/office/powerpoint/2010/main" val="2153200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39145-F8AA-2FEC-25B4-CD69813B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30B5422-2AB7-910D-374C-247B37F2BF6F}"/>
              </a:ext>
            </a:extLst>
          </p:cNvPr>
          <p:cNvSpPr txBox="1"/>
          <p:nvPr/>
        </p:nvSpPr>
        <p:spPr>
          <a:xfrm>
            <a:off x="304800" y="592574"/>
            <a:ext cx="366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u="sng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pulso financeiro - v1.0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725A57D-6F7B-C453-8D3C-202E5D867D69}"/>
              </a:ext>
            </a:extLst>
          </p:cNvPr>
          <p:cNvSpPr txBox="1"/>
          <p:nvPr/>
        </p:nvSpPr>
        <p:spPr>
          <a:xfrm>
            <a:off x="585216" y="1307592"/>
            <a:ext cx="551078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 O Desafio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O Custo Invisível do Trabalho Manual</a:t>
            </a:r>
          </a:p>
          <a:p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Processo Lento e Manual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 A consolidação dos dados orçamentários consumia horas preciosas que poderiam ser usadas em análises estratégicas.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Dados Descentralizados e Inconsistentes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 Informações de diferentes fontes exigiam um trabalho manual de "</a:t>
            </a:r>
            <a:r>
              <a:rPr lang="pt-BR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de-para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sujeito a erros, minando a confiança nos números.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Visão Limitada para o Gestor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 A informação existia, mas não gerava insights acionáveis, dificultando a identificação de tendências e gargalos.</a:t>
            </a:r>
          </a:p>
          <a:p>
            <a:endParaRPr lang="pt-BR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579D771D-5E71-50A9-C2A7-8BC4355C4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7422" y="1776244"/>
            <a:ext cx="3094567" cy="309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8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4719A-F2F3-8024-C440-4A707229D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61011B4-4E2B-6707-E7E3-39B9D124423A}"/>
              </a:ext>
            </a:extLst>
          </p:cNvPr>
          <p:cNvSpPr txBox="1"/>
          <p:nvPr/>
        </p:nvSpPr>
        <p:spPr>
          <a:xfrm>
            <a:off x="304800" y="592574"/>
            <a:ext cx="366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u="sng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pulso financeiro - v1.0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80E297A-8DAD-213A-1E88-092EBE15D967}"/>
              </a:ext>
            </a:extLst>
          </p:cNvPr>
          <p:cNvSpPr txBox="1"/>
          <p:nvPr/>
        </p:nvSpPr>
        <p:spPr>
          <a:xfrm>
            <a:off x="585216" y="1307592"/>
            <a:ext cx="551078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2. A Solução: 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Apresentando o Pulso Financeiro v1.0</a:t>
            </a:r>
          </a:p>
          <a:p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[Fontes de Dados] -&gt; [Coleta, Trata e Analisa] -&gt; [Entregas para o Gestor]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Coleta Inteligente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conecta diretamente às fontes de dados e coleta toda a informação bruta de forma automática.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Tratamento e Enriquecimento (O Coração do Projeto):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O robô limpa, padroniza e valida milhares de linhas de dados, corrigindo inconsistências e garantindo que a informação seja 100% confiável.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Apresentação Acionável: 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Ao final, a plataforma entrega a informação em formatos que dão total autonomia para o gestor, da visão macro ao detalhe.</a:t>
            </a:r>
            <a:endParaRPr lang="pt-BR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08173434-ECD3-67CA-DE27-3D7B03DC9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5156" y="1738887"/>
            <a:ext cx="2883515" cy="288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47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45DB2-647C-6968-F07C-A3878B071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FAAE2DD-0080-D9CC-3A44-3876F3097DE0}"/>
              </a:ext>
            </a:extLst>
          </p:cNvPr>
          <p:cNvSpPr txBox="1"/>
          <p:nvPr/>
        </p:nvSpPr>
        <p:spPr>
          <a:xfrm>
            <a:off x="304800" y="592574"/>
            <a:ext cx="366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u="sng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pulso financeiro - v1.0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736E4C-790C-25D3-9136-95C659A0D62E}"/>
              </a:ext>
            </a:extLst>
          </p:cNvPr>
          <p:cNvSpPr txBox="1"/>
          <p:nvPr/>
        </p:nvSpPr>
        <p:spPr>
          <a:xfrm>
            <a:off x="585216" y="1307592"/>
            <a:ext cx="551078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3. Visão de 360°: O Painel de Controle do Pulso Financeiro</a:t>
            </a:r>
          </a:p>
          <a:p>
            <a:endParaRPr lang="pt-BR" sz="14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Responde Perguntas Chave em Segundos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Onde meu orçamento está ocioso? Qual projeto está atrasado? Qual a tendência de gastos?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Indicadores Estratégicos Inovadores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Além do básico, a Métrica de Inércia expõe gargalos operacionais ao medir o tempo entre o planejamento e o gasto real, uma ferramenta poderosa para otimizar processos.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Acessível em Qualquer Lugar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Publicado em um link seguro, o painel é totalmente responsivo para computador, tablet ou celular.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44ABE8-45F2-055A-FB9C-F55145B3F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459" y="1307592"/>
            <a:ext cx="5668541" cy="303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54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60A1-C0C3-7FFE-60F6-B6CE5EFA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0D0CC28-2DB8-6CED-2DD2-AAD928D9872D}"/>
              </a:ext>
            </a:extLst>
          </p:cNvPr>
          <p:cNvSpPr txBox="1"/>
          <p:nvPr/>
        </p:nvSpPr>
        <p:spPr>
          <a:xfrm>
            <a:off x="304800" y="592574"/>
            <a:ext cx="366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u="sng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pulso financeiro - v1.0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51D246-560A-89A3-66B8-3431093CD4FB}"/>
              </a:ext>
            </a:extLst>
          </p:cNvPr>
          <p:cNvSpPr txBox="1"/>
          <p:nvPr/>
        </p:nvSpPr>
        <p:spPr>
          <a:xfrm>
            <a:off x="585216" y="1307592"/>
            <a:ext cx="55107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4. Democratização dos Dados: Insights Direto na sua Caixa de Entrada</a:t>
            </a:r>
          </a:p>
          <a:p>
            <a:endParaRPr lang="pt-BR" sz="14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Comunicação Direta e Automática: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Envia proativamente um resumo por e-mail para cada gestor de unidade e sua equipe.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Dupla Camada de Informação: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Para o Estrategista: 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Um resumo visual com os principais destaques no e-mail.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Para o Analista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A base de dados completa da unidade anexada em Excel, garantindo total transparência e autonomia.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Comunicação Personalizada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O sistema reconhece os nomes dos gestores e suas equipes, adaptando a comunicação e garantindo que a informação certa chegue para as pessoas certas.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18E5366-3AFC-E932-C608-305D3E2126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44"/>
          <a:stretch>
            <a:fillRect/>
          </a:stretch>
        </p:blipFill>
        <p:spPr>
          <a:xfrm>
            <a:off x="6096000" y="1737911"/>
            <a:ext cx="5941671" cy="310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0FE51-EFBB-F0FB-B894-CFCBD73B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34AB551-F715-8A61-C8DC-411BA55979B2}"/>
              </a:ext>
            </a:extLst>
          </p:cNvPr>
          <p:cNvSpPr txBox="1"/>
          <p:nvPr/>
        </p:nvSpPr>
        <p:spPr>
          <a:xfrm>
            <a:off x="304800" y="592574"/>
            <a:ext cx="366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u="sng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pulso financeiro - v1.0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EF24A55-1BD5-F1F2-1A1E-EE875D129B1C}"/>
              </a:ext>
            </a:extLst>
          </p:cNvPr>
          <p:cNvSpPr txBox="1"/>
          <p:nvPr/>
        </p:nvSpPr>
        <p:spPr>
          <a:xfrm>
            <a:off x="585216" y="1307592"/>
            <a:ext cx="551078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5. Construído para durar</a:t>
            </a:r>
          </a:p>
          <a:p>
            <a:endParaRPr lang="pt-BR" sz="14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Código Organizado e Legível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O projeto foi construído com uma estrutura de pastas lógica que separa configuração, processamento e comunicação.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Versionamento e Histórico com </a:t>
            </a:r>
            <a:r>
              <a:rPr lang="pt-BR" sz="1400" u="sng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Git</a:t>
            </a: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/GitHub: 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Todo o desenvolvimento está registrado. Qualquer alteração futura pode ser feita com segurança, com a capacidade de reverter para uma versão estável a qualquer momento.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Documentação Centralizada: </a:t>
            </a:r>
            <a:r>
              <a:rPr lang="pt-B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Existe um manual de instruções direto no projeto. Um novo membro da equipe pode entender como o sistema funciona, como executá-lo e como ajustá-lo.</a:t>
            </a:r>
            <a:endParaRPr lang="pt-BR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BAAE253-EBCA-F177-79B8-29138EA7D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6366" y="1671612"/>
            <a:ext cx="3026833" cy="302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6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394E6-E2CF-FEE3-2BF9-F30378F4B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3617A3E-70B7-71FF-BC5F-9E98748DFF65}"/>
              </a:ext>
            </a:extLst>
          </p:cNvPr>
          <p:cNvSpPr txBox="1"/>
          <p:nvPr/>
        </p:nvSpPr>
        <p:spPr>
          <a:xfrm>
            <a:off x="2370667" y="3244334"/>
            <a:ext cx="745066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  <a:t>Obrigado</a:t>
            </a:r>
            <a:br>
              <a:rPr lang="pt-BR" dirty="0">
                <a:latin typeface="JetBrains Mono ExtraBold" panose="02000009000000000000" pitchFamily="49" charset="0"/>
                <a:ea typeface="JetBrains Mono ExtraBold" panose="02000009000000000000" pitchFamily="49" charset="0"/>
                <a:cs typeface="JetBrains Mono ExtraBold" panose="02000009000000000000" pitchFamily="49" charset="0"/>
              </a:rPr>
            </a:br>
            <a:endParaRPr lang="pt-BR" sz="1200" dirty="0">
              <a:latin typeface="JetBrains Mono ExtraBold" panose="02000009000000000000" pitchFamily="49" charset="0"/>
              <a:ea typeface="JetBrains Mono ExtraBold" panose="02000009000000000000" pitchFamily="49" charset="0"/>
              <a:cs typeface="JetBrains Mono ExtraBold" panose="02000009000000000000" pitchFamily="49" charset="0"/>
            </a:endParaRPr>
          </a:p>
          <a:p>
            <a:pPr algn="ctr"/>
            <a:r>
              <a:rPr lang="pt-BR" sz="12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2"/>
              </a:rPr>
              <a:t>cesargl@sebraesp.com.br</a:t>
            </a:r>
            <a:br>
              <a:rPr lang="pt-BR" sz="12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1200" u="sng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https://github.com/ufcsebrae/PlanNatureza </a:t>
            </a:r>
          </a:p>
        </p:txBody>
      </p:sp>
    </p:spTree>
    <p:extLst>
      <p:ext uri="{BB962C8B-B14F-4D97-AF65-F5344CB8AC3E}">
        <p14:creationId xmlns:p14="http://schemas.microsoft.com/office/powerpoint/2010/main" val="10901358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f7dcd09-6007-4829-84ad-261ba9354702}" enabled="1" method="Standard" siteId="{6d60b55c-2576-4d60-ae33-11df0ea0798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769</Words>
  <Application>Microsoft Office PowerPoint</Application>
  <PresentationFormat>Widescreen</PresentationFormat>
  <Paragraphs>57</Paragraphs>
  <Slides>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JetBrains Mono</vt:lpstr>
      <vt:lpstr>JetBrains Mono ExtraBold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Augusto Galeskas Lopes</dc:creator>
  <cp:lastModifiedBy>Cesar Augusto Galeskas Lopes</cp:lastModifiedBy>
  <cp:revision>3</cp:revision>
  <dcterms:created xsi:type="dcterms:W3CDTF">2026-01-21T19:35:14Z</dcterms:created>
  <dcterms:modified xsi:type="dcterms:W3CDTF">2026-01-22T13:38:23Z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Tema do Office:8</vt:lpwstr>
  </property>
  <property fmtid="{D5CDD505-2E9C-101B-9397-08002B2CF9AE}" pid="3" name="ClassificationContentMarkingHeaderText">
    <vt:lpwstr>Classificação: RESTRITA</vt:lpwstr>
  </property>
</Properties>
</file>